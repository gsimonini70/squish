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40080"/>
            <a:ext cx="1051560" cy="1051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286000"/>
            <a:ext cx="106984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CA3AF"/>
                </a:solidFill>
                <a:latin typeface="Menlo"/>
              </a:rPr>
              <a:t>PRESENTAZIONE COMMERCIALE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6000" b="1">
                <a:solidFill>
                  <a:srgbClr val="FFFFFF"/>
                </a:solidFill>
                <a:latin typeface="Helvetica Neue"/>
              </a:rPr>
              <a:t>SQUISH 3.0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2200" b="0">
                <a:solidFill>
                  <a:srgbClr val="D1D5DB"/>
                </a:solidFill>
                <a:latin typeface="Helvetica Neue"/>
              </a:rPr>
              <a:t>Compressione intelligente dei PDF per l'impresa</a:t>
            </a:r>
          </a:p>
          <a:p>
            <a:pPr algn="l">
              <a:spcBef>
                <a:spcPts val="1600"/>
              </a:spcBef>
              <a:spcAft>
                <a:spcPts val="400"/>
              </a:spcAft>
            </a:pPr>
            <a:r>
              <a:rPr sz="1300" b="0">
                <a:solidFill>
                  <a:srgbClr val="9CA3AF"/>
                </a:solidFill>
                <a:latin typeface="Menlo"/>
              </a:rPr>
              <a:t>Pipeline Java 22 · Integrazione Oracle · PDF/A · Sicurezza AES-256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enlo"/>
              </a:rPr>
              <a:t>LUCSARTECH SRL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00" b="0">
                <a:solidFill>
                  <a:srgbClr val="9CA3AF"/>
                </a:solidFill>
                <a:latin typeface="Helvetica Neue"/>
              </a:rPr>
              <a:t>Viale Martiri della Libertà 44, 43036 Fidenza (PR)  ·  P.IVA 03085420341  ·  gianluca.simonini@lucsartech.it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45720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B7280"/>
                </a:solidFill>
                <a:latin typeface="Menlo"/>
              </a:rPr>
              <a:t>02  ·  IL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11827"/>
                </a:solidFill>
                <a:latin typeface="Helvetica Neue"/>
              </a:rPr>
              <a:t>Archivi PDF che pesano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908792" cy="2794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4B5563"/>
                </a:solidFill>
                <a:latin typeface="Helvetica Neue"/>
              </a:rPr>
              <a:t>Le organizzazioni con grandi archivi documentali affrontano volumi crescenti di file PDF non ottimizzati.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39"/>
            <a:ext cx="10881360" cy="352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F2937"/>
                </a:solidFill>
                <a:latin typeface="Helvetica Neue"/>
              </a:rPr>
              <a:t>•  Archivi documentali in crescita continua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500" b="0">
                <a:solidFill>
                  <a:srgbClr val="1F2937"/>
                </a:solidFill>
                <a:latin typeface="Helvetica Neue"/>
              </a:rPr>
              <a:t>•  Costi di storage in aumento, on-premise e in cloud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500" b="0">
                <a:solidFill>
                  <a:srgbClr val="1F2937"/>
                </a:solidFill>
                <a:latin typeface="Helvetica Neue"/>
              </a:rPr>
              <a:t>•  Tempi di trasferimento e backup elevati per documenti pesanti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500" b="0">
                <a:solidFill>
                  <a:srgbClr val="1F2937"/>
                </a:solidFill>
                <a:latin typeface="Helvetica Neue"/>
              </a:rPr>
              <a:t>•  Conformità PDF/A sempre più richiesta per l'archiviazione a lungo termine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500" b="0">
                <a:solidFill>
                  <a:srgbClr val="1F2937"/>
                </a:solidFill>
                <a:latin typeface="Helvetica Neue"/>
              </a:rPr>
              <a:t>•  Gestione manuale inefficiente e soggetta a errori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500" b="0">
                <a:solidFill>
                  <a:srgbClr val="1F2937"/>
                </a:solidFill>
                <a:latin typeface="Helvetica Neue"/>
              </a:rPr>
              <a:t>•  Molti documenti sono scansioni ricche di immagini: è lì il potenziale di risparmio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966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CA3AF"/>
                </a:solidFill>
                <a:latin typeface="Menlo"/>
              </a:rPr>
              <a:t>LUCSARTECH SRL  ·  Fidenza (PR)  ·  SQUISH 3.0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CA3AF"/>
                </a:solidFill>
                <a:latin typeface="Menl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45720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B7280"/>
                </a:solidFill>
                <a:latin typeface="Menlo"/>
              </a:rPr>
              <a:t>03  ·  LA SOLUZIONE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11827"/>
                </a:solidFill>
                <a:latin typeface="Helvetica Neue"/>
              </a:rPr>
              <a:t>SQUISH in sintesi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908792" cy="2794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4B5563"/>
                </a:solidFill>
                <a:latin typeface="Helvetica Neue"/>
              </a:rPr>
              <a:t>Piattaforma enterprise per la compressione automatizzata dei PDF, integrata nativamente con Oracle Database e non distruttiva.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39"/>
            <a:ext cx="10881360" cy="352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600" b="1">
                <a:solidFill>
                  <a:srgbClr val="111827"/>
                </a:solidFill>
                <a:latin typeface="Helvetica Neue"/>
              </a:rPr>
              <a:t>Automazione completa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Helvetica Neue"/>
              </a:rPr>
              <a:t>Elaborazione massiva degli archivi senza intervento manuale.</a:t>
            </a:r>
          </a:p>
          <a:p>
            <a:pPr algn="l">
              <a:spcBef>
                <a:spcPts val="1200"/>
              </a:spcBef>
              <a:spcAft>
                <a:spcPts val="400"/>
              </a:spcAft>
            </a:pPr>
            <a:r>
              <a:rPr sz="1600" b="1">
                <a:solidFill>
                  <a:srgbClr val="111827"/>
                </a:solidFill>
                <a:latin typeface="Helvetica Neue"/>
              </a:rPr>
              <a:t>Nessuna perdita involontaria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Helvetica Neue"/>
              </a:rPr>
              <a:t>Se la compressione non riduce il file, l'originale viene preservato.</a:t>
            </a:r>
          </a:p>
          <a:p>
            <a:pPr algn="l">
              <a:spcBef>
                <a:spcPts val="1200"/>
              </a:spcBef>
              <a:spcAft>
                <a:spcPts val="400"/>
              </a:spcAft>
            </a:pPr>
            <a:r>
              <a:rPr sz="1600" b="1">
                <a:solidFill>
                  <a:srgbClr val="111827"/>
                </a:solidFill>
                <a:latin typeface="Helvetica Neue"/>
              </a:rPr>
              <a:t>Parametri trasparenti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Helvetica Neue"/>
              </a:rPr>
              <a:t>Scala immagine e qualità JPEG esplicite e verificabili per ogni modalità.</a:t>
            </a:r>
          </a:p>
          <a:p>
            <a:pPr algn="l">
              <a:spcBef>
                <a:spcPts val="1200"/>
              </a:spcBef>
              <a:spcAft>
                <a:spcPts val="400"/>
              </a:spcAft>
            </a:pPr>
            <a:r>
              <a:rPr sz="1600" b="1">
                <a:solidFill>
                  <a:srgbClr val="111827"/>
                </a:solidFill>
                <a:latin typeface="Helvetica Neue"/>
              </a:rPr>
              <a:t>Conformità e sicurezza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Helvetica Neue"/>
              </a:rPr>
              <a:t>PDF/A per l'archiviazione, lettura e ri-cifratura AES-256 dei PDF protetti.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966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CA3AF"/>
                </a:solidFill>
                <a:latin typeface="Menlo"/>
              </a:rPr>
              <a:t>LUCSARTECH SRL  ·  Fidenza (PR)  ·  SQUISH 3.0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CA3AF"/>
                </a:solidFill>
                <a:latin typeface="Menl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45720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B7280"/>
                </a:solidFill>
                <a:latin typeface="Menlo"/>
              </a:rPr>
              <a:t>04  ·  ARCHITETTURA E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11827"/>
                </a:solidFill>
                <a:latin typeface="Helvetica Neue"/>
              </a:rPr>
              <a:t>Pipeline su Virtual Threads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908792" cy="2794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4B5563"/>
                </a:solidFill>
                <a:latin typeface="Helvetica Neue"/>
              </a:rPr>
              <a:t>Java 22 Virtual Threads (Project Loom): modello produttore / worker / writer con code a capacità limitata (backpressure).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697480"/>
            <a:ext cx="3063240" cy="1554480"/>
          </a:xfrm>
          <a:prstGeom prst="rect">
            <a:avLst/>
          </a:prstGeom>
          <a:solidFill>
            <a:srgbClr val="F9FAFB"/>
          </a:solidFill>
          <a:ln w="19050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11827"/>
                </a:solidFill>
                <a:latin typeface="Menlo"/>
              </a:rPr>
              <a:t>PRODUCER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Helvetica Neue"/>
              </a:rPr>
              <a:t>Lettura BLOB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Helvetica Neue"/>
              </a:rPr>
              <a:t>da Oracle DB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2697480"/>
            <a:ext cx="3063240" cy="1554480"/>
          </a:xfrm>
          <a:prstGeom prst="rect">
            <a:avLst/>
          </a:prstGeom>
          <a:solidFill>
            <a:srgbClr val="F9FAFB"/>
          </a:solidFill>
          <a:ln w="19050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11827"/>
                </a:solidFill>
                <a:latin typeface="Menlo"/>
              </a:rPr>
              <a:t>WORKER POOL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Helvetica Neue"/>
              </a:rPr>
              <a:t>Compressione PDF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Helvetica Neue"/>
              </a:rPr>
              <a:t>(thread virtuali)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2697480"/>
            <a:ext cx="3063240" cy="1554480"/>
          </a:xfrm>
          <a:prstGeom prst="rect">
            <a:avLst/>
          </a:prstGeom>
          <a:solidFill>
            <a:srgbClr val="F9FAFB"/>
          </a:solidFill>
          <a:ln w="19050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11827"/>
                </a:solidFill>
                <a:latin typeface="Menlo"/>
              </a:rPr>
              <a:t>WRITER POOL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Helvetica Neue"/>
              </a:rPr>
              <a:t>Riscrittura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Helvetica Neue"/>
              </a:rPr>
              <a:t>sul database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069080" y="3264408"/>
            <a:ext cx="457200" cy="411480"/>
          </a:xfrm>
          <a:prstGeom prst="rightArrow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7818120" y="3264408"/>
            <a:ext cx="457200" cy="411480"/>
          </a:xfrm>
          <a:prstGeom prst="rightArrow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4572000"/>
            <a:ext cx="10561320" cy="5029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Menlo"/>
              </a:rPr>
              <a:t>BlockingQueue&lt;PdfTask&gt;  →  Semaphore(worker)  →  BlockingQueue&lt;CompressionResult&gt;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49240"/>
            <a:ext cx="10561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Numero di worker configurabile · elaborazione I/O-bound efficiente · il throughput reale dipende da dimensione documenti, latenza DB e risorse server e va misurato nell'ambiente del cliente.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9966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CA3AF"/>
                </a:solidFill>
                <a:latin typeface="Menlo"/>
              </a:rPr>
              <a:t>LUCSARTECH SRL  ·  Fidenza (PR)  ·  SQUISH 3.0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CA3AF"/>
                </a:solidFill>
                <a:latin typeface="Menl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45720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B7280"/>
                </a:solidFill>
                <a:latin typeface="Menlo"/>
              </a:rPr>
              <a:t>05  ·  PROFILI DI COMPRESSIONE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11827"/>
                </a:solidFill>
                <a:latin typeface="Helvetica Neue"/>
              </a:rPr>
              <a:t>Modalità con parametri espliciti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908792" cy="2794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B5563"/>
                </a:solidFill>
                <a:latin typeface="Helvetica Neue"/>
              </a:rPr>
              <a:t>La compressione ricomprime le immagini raster; sui PDF di solo testo ottimizza solo la struttura. Profili preconfigurati: archival, office, web, custom.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423160"/>
            <a:ext cx="1737360" cy="47548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Menlo"/>
              </a:rPr>
              <a:t>MODALITÀ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39" y="2423160"/>
            <a:ext cx="1417320" cy="47548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Menlo"/>
              </a:rPr>
              <a:t>SCALA IMG.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94759" y="2423160"/>
            <a:ext cx="1600200" cy="47548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Menlo"/>
              </a:rPr>
              <a:t>QUALITÀ JPEG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59" y="2423160"/>
            <a:ext cx="6153912" cy="47548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Menlo"/>
              </a:rPr>
              <a:t>SCOPO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898648"/>
            <a:ext cx="1737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27432" bIns="2743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11827"/>
                </a:solidFill>
                <a:latin typeface="Helvetica Neue"/>
              </a:rPr>
              <a:t>LOSSLESS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39" y="2898648"/>
            <a:ext cx="1417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27432" bIns="2743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Helvetica Neue"/>
              </a:rPr>
              <a:t>1.0 (100%)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94759" y="2898648"/>
            <a:ext cx="1600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27432" bIns="2743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Helvetica Neue"/>
              </a:rPr>
              <a:t>1.0 (100%)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59" y="2898648"/>
            <a:ext cx="615391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27432" bIns="2743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Helvetica Neue"/>
              </a:rPr>
              <a:t>Integrità e conformità: sola ottimizzazione struttura, risparmio marginale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465576"/>
            <a:ext cx="1737360" cy="566928"/>
          </a:xfrm>
          <a:prstGeom prst="rect">
            <a:avLst/>
          </a:prstGeom>
          <a:solidFill>
            <a:srgbClr val="F4F4F7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27432" bIns="2743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11827"/>
                </a:solidFill>
                <a:latin typeface="Helvetica Neue"/>
              </a:rPr>
              <a:t>MEDIUM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39" y="3465576"/>
            <a:ext cx="1417320" cy="566928"/>
          </a:xfrm>
          <a:prstGeom prst="rect">
            <a:avLst/>
          </a:prstGeom>
          <a:solidFill>
            <a:srgbClr val="F4F4F7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27432" bIns="2743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Helvetica Neue"/>
              </a:rPr>
              <a:t>0.75 (75%)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94759" y="3465576"/>
            <a:ext cx="1600200" cy="566928"/>
          </a:xfrm>
          <a:prstGeom prst="rect">
            <a:avLst/>
          </a:prstGeom>
          <a:solidFill>
            <a:srgbClr val="F4F4F7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27432" bIns="2743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Helvetica Neue"/>
              </a:rPr>
              <a:t>0.70 (70%)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94959" y="3465576"/>
            <a:ext cx="6153912" cy="566928"/>
          </a:xfrm>
          <a:prstGeom prst="rect">
            <a:avLst/>
          </a:prstGeom>
          <a:solidFill>
            <a:srgbClr val="F4F4F7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27432" bIns="2743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Helvetica Neue"/>
              </a:rPr>
              <a:t>Documenti d'ufficio: equilibrio tra dimensione e qualità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032504"/>
            <a:ext cx="1737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27432" bIns="2743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11827"/>
                </a:solidFill>
                <a:latin typeface="Helvetica Neue"/>
              </a:rPr>
              <a:t>AGGRESSIVE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77439" y="4032504"/>
            <a:ext cx="1417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27432" bIns="2743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Helvetica Neue"/>
              </a:rPr>
              <a:t>0.50 (50%)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94759" y="4032504"/>
            <a:ext cx="1600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27432" bIns="2743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Helvetica Neue"/>
              </a:rPr>
              <a:t>0.30 (30%)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94959" y="4032504"/>
            <a:ext cx="615391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27432" bIns="2743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Helvetica Neue"/>
              </a:rPr>
              <a:t>Web/email: massima riduzione, calo di qualità percepibile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599432"/>
            <a:ext cx="1737360" cy="566928"/>
          </a:xfrm>
          <a:prstGeom prst="rect">
            <a:avLst/>
          </a:prstGeom>
          <a:solidFill>
            <a:srgbClr val="F4F4F7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27432" bIns="2743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11827"/>
                </a:solidFill>
                <a:latin typeface="Helvetica Neue"/>
              </a:rPr>
              <a:t>CUSTOM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77439" y="4599432"/>
            <a:ext cx="1417320" cy="566928"/>
          </a:xfrm>
          <a:prstGeom prst="rect">
            <a:avLst/>
          </a:prstGeom>
          <a:solidFill>
            <a:srgbClr val="F4F4F7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27432" bIns="2743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Helvetica Neue"/>
              </a:rPr>
              <a:t>config.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94759" y="4599432"/>
            <a:ext cx="1600200" cy="566928"/>
          </a:xfrm>
          <a:prstGeom prst="rect">
            <a:avLst/>
          </a:prstGeom>
          <a:solidFill>
            <a:srgbClr val="F4F4F7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27432" bIns="2743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Helvetica Neue"/>
              </a:rPr>
              <a:t>config.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94959" y="4599432"/>
            <a:ext cx="6153912" cy="566928"/>
          </a:xfrm>
          <a:prstGeom prst="rect">
            <a:avLst/>
          </a:prstGeom>
          <a:solidFill>
            <a:srgbClr val="F4F4F7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27432" bIns="2743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Helvetica Neue"/>
              </a:rPr>
              <a:t>Scala e qualità impostate esplicitamente per esigenze specifiche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30352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Helvetica Neue"/>
              </a:rPr>
              <a:t>Risparmio dipendente dal contenuto. Misure su file campione (piccoli, non benchmark di produzione): immagine RGB ~23%, scala di grigi ~21%, solo testo 0% (originale preservato). Su scansioni reali il guadagno è maggiore.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9966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CA3AF"/>
                </a:solidFill>
                <a:latin typeface="Menlo"/>
              </a:rPr>
              <a:t>LUCSARTECH SRL  ·  Fidenza (PR)  ·  SQUISH 3.0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CA3AF"/>
                </a:solidFill>
                <a:latin typeface="Menl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45720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B7280"/>
                </a:solidFill>
                <a:latin typeface="Menlo"/>
              </a:rPr>
              <a:t>06  ·  CONFORMITÀ E SICUREZZA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11827"/>
                </a:solidFill>
                <a:latin typeface="Helvetica Neue"/>
              </a:rPr>
              <a:t>PDF/A e protezione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908792" cy="2794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5212080" cy="416052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6634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B7280"/>
                </a:solidFill>
                <a:latin typeface="Menlo"/>
              </a:rPr>
              <a:t>CONFORMITÀ PDF/A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Helvetica Neue"/>
              </a:rPr>
              <a:t>•  PDF/A-1B — conformità base, massima compatibilità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Helvetica Neue"/>
              </a:rPr>
              <a:t>•  PDF/A-2B — ISO 32000-1, JPEG2000 (consigliato)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Helvetica Neue"/>
              </a:rPr>
              <a:t>•  PDF/A-3B — permette allegati incorporati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Helvetica Neue"/>
              </a:rPr>
              <a:t>•  Profilo colore sRGB ICC incorporato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Helvetica Neue"/>
              </a:rPr>
              <a:t>•  Metadati XMP e info documento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Helvetica Neue"/>
              </a:rPr>
              <a:t>•  Compatibile con compressione e watermark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2011680"/>
            <a:ext cx="5212080" cy="416052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286000"/>
            <a:ext cx="46634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B7280"/>
                </a:solidFill>
                <a:latin typeface="Menlo"/>
              </a:rPr>
              <a:t>SICUREZZA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Helvetica Neue"/>
              </a:rPr>
              <a:t>•  Lettura di PDF protetti da password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Helvetica Neue"/>
              </a:rPr>
              <a:t>•  Ri-cifratura dell'output in AES-256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Helvetica Neue"/>
              </a:rPr>
              <a:t>•  Credenziali via variabili d'ambiente (non in ps aux)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Helvetica Neue"/>
              </a:rPr>
              <a:t>•  HTTPS/TLS con keystore PKCS12 o JKS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Helvetica Neue"/>
              </a:rPr>
              <a:t>•  Watermark: 7 posizioni, opacità, font e colore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Helvetica Neue"/>
              </a:rPr>
              <a:t>•  Validazione magic bytes: i non-PDF non vengono alterati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9966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CA3AF"/>
                </a:solidFill>
                <a:latin typeface="Menlo"/>
              </a:rPr>
              <a:t>LUCSARTECH SRL  ·  Fidenza (PR)  ·  SQUISH 3.0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CA3AF"/>
                </a:solidFill>
                <a:latin typeface="Menl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45720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B7280"/>
                </a:solidFill>
                <a:latin typeface="Menlo"/>
              </a:rPr>
              <a:t>07  ·  INTEGRAZIONE E MONITORAGGIO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11827"/>
                </a:solidFill>
                <a:latin typeface="Helvetica Neue"/>
              </a:rPr>
              <a:t>Nativo su Oracle, osservabile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908792" cy="2794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5212080" cy="416052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6634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B7280"/>
                </a:solidFill>
                <a:latin typeface="Menlo"/>
              </a:rPr>
              <a:t>DATABASE &amp; INTEGRAZIONE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Helvetica Neue"/>
              </a:rPr>
              <a:t>•  Oracle: legge i BLOB PDF, comprime, riscrive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Helvetica Neue"/>
              </a:rPr>
              <a:t>•  Tracking SQUISH_PROCESSED: SUCCESS/SKIPPED/ERROR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Helvetica Neue"/>
              </a:rPr>
              <a:t>•  Evita il riprocessamento, consente la ripresa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Helvetica Neue"/>
              </a:rPr>
              <a:t>•  Connection pooling HikariCP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Helvetica Neue"/>
              </a:rPr>
              <a:t>•  REST API: compressione on-demand via /api/compress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Helvetica Neue"/>
              </a:rPr>
              <a:t>•  Config e profili via /api/config, /api/profiles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2011680"/>
            <a:ext cx="5212080" cy="416052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286000"/>
            <a:ext cx="46634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B7280"/>
                </a:solidFill>
                <a:latin typeface="Menlo"/>
              </a:rPr>
              <a:t>MONITORAGGIO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Helvetica Neue"/>
              </a:rPr>
              <a:t>•  Dashboard web real-time della pipeline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Helvetica Neue"/>
              </a:rPr>
              <a:t>•  Metriche Prometheus (records_compressed, savings_percent…)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Helvetica Neue"/>
              </a:rPr>
              <a:t>•  Integrazione Grafana / Datadog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Helvetica Neue"/>
              </a:rPr>
              <a:t>•  Report PDF automatici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Helvetica Neue"/>
              </a:rPr>
              <a:t>•  Notifiche email SMTP (STARTTLS/SSL)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Helvetica Neue"/>
              </a:rPr>
              <a:t>•  143 test automatici (JUnit 5 + AssertJ)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9966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CA3AF"/>
                </a:solidFill>
                <a:latin typeface="Menlo"/>
              </a:rPr>
              <a:t>LUCSARTECH SRL  ·  Fidenza (PR)  ·  SQUISH 3.0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CA3AF"/>
                </a:solidFill>
                <a:latin typeface="Menl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45720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B7280"/>
                </a:solidFill>
                <a:latin typeface="Menlo"/>
              </a:rPr>
              <a:t>08  ·  MODALITÀ OPERATIVE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11827"/>
                </a:solidFill>
                <a:latin typeface="Helvetica Neue"/>
              </a:rPr>
              <a:t>Batch, Watchdog 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908792" cy="2794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1088136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600" b="1">
                <a:solidFill>
                  <a:srgbClr val="111827"/>
                </a:solidFill>
                <a:latin typeface="Helvetica Neue"/>
              </a:rPr>
              <a:t>Batch Mode (predefinita)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Helvetica Neue"/>
              </a:rPr>
              <a:t>Elabora i record del range configurato una volta, poi termina. Ideale per migrazione archivi, ottimizzazioni pianificate, digitalizzazione.</a:t>
            </a:r>
          </a:p>
          <a:p>
            <a:pPr algn="l">
              <a:spcBef>
                <a:spcPts val="1200"/>
              </a:spcBef>
              <a:spcAft>
                <a:spcPts val="400"/>
              </a:spcAft>
            </a:pPr>
            <a:r>
              <a:rPr sz="1600" b="1">
                <a:solidFill>
                  <a:srgbClr val="111827"/>
                </a:solidFill>
                <a:latin typeface="Helvetica Neue"/>
              </a:rPr>
              <a:t>Watchdog Mode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Helvetica Neue"/>
              </a:rPr>
              <a:t>Interroga periodicamente il database per i nuovi record. Ideale per comprimere i documenti in ingresso e integrarsi nei flussi.</a:t>
            </a:r>
          </a:p>
          <a:p>
            <a:pPr algn="l">
              <a:spcBef>
                <a:spcPts val="1200"/>
              </a:spcBef>
              <a:spcAft>
                <a:spcPts val="400"/>
              </a:spcAft>
            </a:pPr>
            <a:r>
              <a:rPr sz="1600" b="1">
                <a:solidFill>
                  <a:srgbClr val="111827"/>
                </a:solidFill>
                <a:latin typeface="Helvetica Neue"/>
              </a:rPr>
              <a:t>REST API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Helvetica Neue"/>
              </a:rPr>
              <a:t>Compressione on-demand via HTTP senza integrazione database. Ideale per applicazioni web, microservizi e workflow personalizzati.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9966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CA3AF"/>
                </a:solidFill>
                <a:latin typeface="Menlo"/>
              </a:rPr>
              <a:t>LUCSARTECH SRL  ·  Fidenza (PR)  ·  SQUISH 3.0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CA3AF"/>
                </a:solidFill>
                <a:latin typeface="Menl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45720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B7280"/>
                </a:solidFill>
                <a:latin typeface="Menlo"/>
              </a:rPr>
              <a:t>09  ·  REST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11827"/>
                </a:solidFill>
                <a:latin typeface="Helvetica Neue"/>
              </a:rPr>
              <a:t>Ottimizzare anche dove non era previsto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908792" cy="2794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4B5563"/>
                </a:solidFill>
                <a:latin typeface="Helvetica Neue"/>
              </a:rPr>
              <a:t>Non tutti i PDF nascono nel gestionale: arrivano da portali, applicativi di terze parti, caricamenti manuali. Una chiamata HTTP li porta dentro lo stesso processo, senza toccare i sistemi esistenti.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39"/>
            <a:ext cx="10881360" cy="352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600" b="1">
                <a:solidFill>
                  <a:srgbClr val="111827"/>
                </a:solidFill>
                <a:latin typeface="Helvetica Neue"/>
              </a:rPr>
              <a:t>Una chiamata, la pipeline completa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Helvetica Neue"/>
              </a:rPr>
              <a:t>POST /api/compress restituisce il PDF ottimizzato. Stessi profili e stesse garanzie della modalità database: se non c'è guadagno, l'originale torna intatto.</a:t>
            </a:r>
          </a:p>
          <a:p>
            <a:pPr algn="l">
              <a:spcBef>
                <a:spcPts val="1200"/>
              </a:spcBef>
              <a:spcAft>
                <a:spcPts val="400"/>
              </a:spcAft>
            </a:pPr>
            <a:r>
              <a:rPr sz="1600" b="1">
                <a:solidFill>
                  <a:srgbClr val="111827"/>
                </a:solidFill>
                <a:latin typeface="Helvetica Neue"/>
              </a:rPr>
              <a:t>Il profilo si sceglie a ogni richiesta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Helvetica Neue"/>
              </a:rPr>
              <a:t>profile=confidential applica la filigrana · profile=archival converte in PDF/A · outputPassword cifra l'uscita in AES-256 · password apre i PDF già protetti.</a:t>
            </a:r>
          </a:p>
          <a:p>
            <a:pPr algn="l">
              <a:spcBef>
                <a:spcPts val="1200"/>
              </a:spcBef>
              <a:spcAft>
                <a:spcPts val="400"/>
              </a:spcAft>
            </a:pPr>
            <a:r>
              <a:rPr sz="1600" b="1">
                <a:solidFill>
                  <a:srgbClr val="111827"/>
                </a:solidFill>
                <a:latin typeface="Helvetica Neue"/>
              </a:rPr>
              <a:t>Integrazione senza attriti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Helvetica Neue"/>
              </a:rPr>
              <a:t>Nessun accesso al database, nessun agente da installare, nessuna modifica al codice del cliente. Risposta binaria o JSON con le statistiche di compressione.</a:t>
            </a:r>
          </a:p>
          <a:p>
            <a:pPr algn="l">
              <a:spcBef>
                <a:spcPts val="1200"/>
              </a:spcBef>
              <a:spcAft>
                <a:spcPts val="400"/>
              </a:spcAft>
            </a:pPr>
            <a:r>
              <a:rPr sz="1600" b="1">
                <a:solidFill>
                  <a:srgbClr val="111827"/>
                </a:solidFill>
                <a:latin typeface="Helvetica Neue"/>
              </a:rPr>
              <a:t>Endpoint protetto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Helvetica Neue"/>
              </a:rPr>
              <a:t>Autenticazione HTTP Basic sulle scritture, HTTPS/TLS con keystore PKCS12 o JKS, CORS chiuso di default e apribile solo alle origini autorizzate.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966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CA3AF"/>
                </a:solidFill>
                <a:latin typeface="Menlo"/>
              </a:rPr>
              <a:t>LUCSARTECH SRL  ·  Fidenza (PR)  ·  SQUISH 3.0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CA3AF"/>
                </a:solidFill>
                <a:latin typeface="Menl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45720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B7280"/>
                </a:solidFill>
                <a:latin typeface="Menlo"/>
              </a:rPr>
              <a:t>10  ·  ARCHITETTURA TECNICA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11827"/>
                </a:solidFill>
                <a:latin typeface="Helvetica Neue"/>
              </a:rPr>
              <a:t>Stack e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908792" cy="2794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B5563"/>
                </a:solidFill>
                <a:latin typeface="Helvetica Neue"/>
              </a:rPr>
              <a:t>Stack moderno, enterprise-ready, con qualità presidiata da 143 test automatici.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423160"/>
            <a:ext cx="2743200" cy="47548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Menlo"/>
              </a:rPr>
              <a:t>COMPONENTE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2423160"/>
            <a:ext cx="8165592" cy="47548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18288" b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Menlo"/>
              </a:rPr>
              <a:t>TECNOLOGIA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98648"/>
            <a:ext cx="2743200" cy="480713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27432" bIns="2743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11827"/>
                </a:solidFill>
                <a:latin typeface="Helvetica Neue"/>
              </a:rPr>
              <a:t>Runtime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2898648"/>
            <a:ext cx="8165592" cy="480713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27432" bIns="2743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Helvetica Neue"/>
              </a:rPr>
              <a:t>Java 22+ con Virtual Threads (Project Loom)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379361"/>
            <a:ext cx="2743200" cy="480713"/>
          </a:xfrm>
          <a:prstGeom prst="rect">
            <a:avLst/>
          </a:prstGeom>
          <a:solidFill>
            <a:srgbClr val="F4F4F7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27432" bIns="2743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11827"/>
                </a:solidFill>
                <a:latin typeface="Helvetica Neue"/>
              </a:rPr>
              <a:t>Framework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3379361"/>
            <a:ext cx="8165592" cy="480713"/>
          </a:xfrm>
          <a:prstGeom prst="rect">
            <a:avLst/>
          </a:prstGeom>
          <a:solidFill>
            <a:srgbClr val="F4F4F7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27432" bIns="2743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Helvetica Neue"/>
              </a:rPr>
              <a:t>Spring Boot 3.2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860074"/>
            <a:ext cx="2743200" cy="480713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27432" bIns="2743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11827"/>
                </a:solidFill>
                <a:latin typeface="Helvetica Neue"/>
              </a:rPr>
              <a:t>PDF Engine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3860074"/>
            <a:ext cx="8165592" cy="480713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27432" bIns="2743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Helvetica Neue"/>
              </a:rPr>
              <a:t>iText 8 (kernel, layout, pdfa, bouncy-castle)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340787"/>
            <a:ext cx="2743200" cy="480713"/>
          </a:xfrm>
          <a:prstGeom prst="rect">
            <a:avLst/>
          </a:prstGeom>
          <a:solidFill>
            <a:srgbClr val="F4F4F7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27432" bIns="2743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11827"/>
                </a:solidFill>
                <a:latin typeface="Helvetica Neue"/>
              </a:rPr>
              <a:t>Database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4340787"/>
            <a:ext cx="8165592" cy="480713"/>
          </a:xfrm>
          <a:prstGeom prst="rect">
            <a:avLst/>
          </a:prstGeom>
          <a:solidFill>
            <a:srgbClr val="F4F4F7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27432" bIns="2743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Helvetica Neue"/>
              </a:rPr>
              <a:t>Oracle con HikariCP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821500"/>
            <a:ext cx="2743200" cy="480713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27432" bIns="2743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11827"/>
                </a:solidFill>
                <a:latin typeface="Helvetica Neue"/>
              </a:rPr>
              <a:t>Metriche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4821500"/>
            <a:ext cx="8165592" cy="480713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27432" bIns="2743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Helvetica Neue"/>
              </a:rPr>
              <a:t>Micrometer + Prometheus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302213"/>
            <a:ext cx="2743200" cy="480713"/>
          </a:xfrm>
          <a:prstGeom prst="rect">
            <a:avLst/>
          </a:prstGeom>
          <a:solidFill>
            <a:srgbClr val="F4F4F7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27432" bIns="2743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11827"/>
                </a:solidFill>
                <a:latin typeface="Helvetica Neue"/>
              </a:rPr>
              <a:t>Immagini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5302213"/>
            <a:ext cx="8165592" cy="480713"/>
          </a:xfrm>
          <a:prstGeom prst="rect">
            <a:avLst/>
          </a:prstGeom>
          <a:solidFill>
            <a:srgbClr val="F4F4F7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27432" bIns="2743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Helvetica Neue"/>
              </a:rPr>
              <a:t>TwelveMonkeys ImageIO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782926"/>
            <a:ext cx="2743200" cy="480713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27432" bIns="2743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11827"/>
                </a:solidFill>
                <a:latin typeface="Helvetica Neue"/>
              </a:rPr>
              <a:t>Deployment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5782926"/>
            <a:ext cx="8165592" cy="480713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27432" bIns="2743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Helvetica Neue"/>
              </a:rPr>
              <a:t>JAR eseguibile · Docker · systemd/init · HTTPS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9966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CA3AF"/>
                </a:solidFill>
                <a:latin typeface="Menlo"/>
              </a:rPr>
              <a:t>LUCSARTECH SRL  ·  Fidenza (PR)  ·  SQUISH 3.0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CA3AF"/>
                </a:solidFill>
                <a:latin typeface="Menl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45720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B7280"/>
                </a:solidFill>
                <a:latin typeface="Menlo"/>
              </a:rPr>
              <a:t>11  ·  PERCHÉ LUCSARTECH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11827"/>
                </a:solidFill>
                <a:latin typeface="Helvetica Neue"/>
              </a:rPr>
              <a:t>I motivi per scegliere SQUISH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908792" cy="2794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1088136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F2937"/>
                </a:solidFill>
                <a:latin typeface="Helvetica Neue"/>
              </a:rPr>
              <a:t>•  Tecnologia moderna — Java 22 Virtual Threads, architettura a pipeline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500" b="0">
                <a:solidFill>
                  <a:srgbClr val="1F2937"/>
                </a:solidFill>
                <a:latin typeface="Helvetica Neue"/>
              </a:rPr>
              <a:t>•  Non distruttivo — l'originale è preservato quando non c'è guadagno reale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500" b="0">
                <a:solidFill>
                  <a:srgbClr val="1F2937"/>
                </a:solidFill>
                <a:latin typeface="Helvetica Neue"/>
              </a:rPr>
              <a:t>•  Conformità — PDF/A per l'archiviazione a lungo termine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500" b="0">
                <a:solidFill>
                  <a:srgbClr val="1F2937"/>
                </a:solidFill>
                <a:latin typeface="Helvetica Neue"/>
              </a:rPr>
              <a:t>•  API-first — PDF ottimizzati, sicuri e con watermark anche fuori dai flussi presidiati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500" b="0">
                <a:solidFill>
                  <a:srgbClr val="1F2937"/>
                </a:solidFill>
                <a:latin typeface="Helvetica Neue"/>
              </a:rPr>
              <a:t>•  Enterprise-ready — Oracle, dashboard, Prometheus, HTTPS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500" b="0">
                <a:solidFill>
                  <a:srgbClr val="1F2937"/>
                </a:solidFill>
                <a:latin typeface="Helvetica Neue"/>
              </a:rPr>
              <a:t>•  Trasparente — parametri di compressione espliciti e verificabili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500" b="0">
                <a:solidFill>
                  <a:srgbClr val="1F2937"/>
                </a:solidFill>
                <a:latin typeface="Helvetica Neue"/>
              </a:rPr>
              <a:t>•  Made in Italy — sviluppo e supporto in italiano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9966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CA3AF"/>
                </a:solidFill>
                <a:latin typeface="Menlo"/>
              </a:rPr>
              <a:t>LUCSARTECH SRL  ·  Fidenza (PR)  ·  SQUISH 3.0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9CA3AF"/>
                </a:solidFill>
                <a:latin typeface="Menl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40080"/>
            <a:ext cx="86868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011680"/>
            <a:ext cx="1069848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CA3AF"/>
                </a:solidFill>
                <a:latin typeface="Menlo"/>
              </a:rPr>
              <a:t>CONTATTI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Helvetica Neue"/>
              </a:rPr>
              <a:t>Richiedi una demo sui tuoi documenti</a:t>
            </a:r>
          </a:p>
          <a:p>
            <a:pPr algn="l">
              <a:spcBef>
                <a:spcPts val="1000"/>
              </a:spcBef>
              <a:spcAft>
                <a:spcPts val="400"/>
              </a:spcAft>
            </a:pPr>
            <a:r>
              <a:rPr sz="1600" b="0">
                <a:solidFill>
                  <a:srgbClr val="D1D5DB"/>
                </a:solidFill>
                <a:latin typeface="Helvetica Neue"/>
              </a:rPr>
              <a:t>Un assessment sui vostri archivi reali stima il risparmio effettivo prima di qualsiasi rollout.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663440"/>
            <a:ext cx="106984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Helvetica Neue"/>
              </a:rPr>
              <a:t>LUCSARTECH SRL</a:t>
            </a:r>
          </a:p>
          <a:p>
            <a:pPr algn="l">
              <a:spcBef>
                <a:spcPts val="300"/>
              </a:spcBef>
              <a:spcAft>
                <a:spcPts val="400"/>
              </a:spcAft>
            </a:pPr>
            <a:r>
              <a:rPr sz="1200" b="0">
                <a:solidFill>
                  <a:srgbClr val="9CA3AF"/>
                </a:solidFill>
                <a:latin typeface="Helvetica Neue"/>
              </a:rPr>
              <a:t>Viale Martiri della Libertà 44 — 43036 Fidenza (PR)  ·  P.IVA 03085420341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</a:rPr>
              <a:t>Referente: Gianluca Simonini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300" b="0">
                <a:solidFill>
                  <a:srgbClr val="D1D5DB"/>
                </a:solidFill>
                <a:latin typeface="Menlo"/>
              </a:rPr>
              <a:t>gianluca.simonini@lucsartech.it  ·  www.lucsartech.it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